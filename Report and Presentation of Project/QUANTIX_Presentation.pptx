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546 · Introduction to Quantitative Finance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 Neural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for Black–Scholes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Pricing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3337560"/>
            <a:ext cx="2286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474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QUANTIX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Anshika Ranot  |  IM24040       Kowshika M  |  IM24018       Tanishq Srivastava  |  IM24029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7,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92240" y="822960"/>
            <a:ext cx="2423160" cy="3520440"/>
          </a:xfrm>
          <a:prstGeom prst="rect">
            <a:avLst/>
          </a:prstGeom>
          <a:solidFill>
            <a:srgbClr val="EFF6FB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3716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V(S, t, σ)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92240" y="19202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Price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75120" y="2423160"/>
            <a:ext cx="2057400" cy="365760"/>
          </a:xfrm>
          <a:prstGeom prst="rect">
            <a:avLst/>
          </a:prstGeom>
          <a:solidFill>
            <a:srgbClr val="E8F4FA"/>
          </a:solidFill>
          <a:ln w="10160">
            <a:solidFill>
              <a:srgbClr val="AACF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245973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 —  Stock Price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2926080"/>
            <a:ext cx="2057400" cy="365760"/>
          </a:xfrm>
          <a:prstGeom prst="rect">
            <a:avLst/>
          </a:prstGeom>
          <a:solidFill>
            <a:srgbClr val="E8F4FA"/>
          </a:solidFill>
          <a:ln w="10160">
            <a:solidFill>
              <a:srgbClr val="AACF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96265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 —  Time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75120" y="3429000"/>
            <a:ext cx="2057400" cy="365760"/>
          </a:xfrm>
          <a:prstGeom prst="rect">
            <a:avLst/>
          </a:prstGeom>
          <a:solidFill>
            <a:srgbClr val="E8F4FA"/>
          </a:solidFill>
          <a:ln w="10160">
            <a:solidFill>
              <a:srgbClr val="AACF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346557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 —  Volatility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92608"/>
            <a:ext cx="64008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Call Option?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Real-World Analogy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pay a small fee today for the right to buy a stock at ₹100 one year from now.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stock rises to ₹150 → you profit.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falls to ₹60 → you simply walk away.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606040"/>
            <a:ext cx="3931920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6060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question: How much is that right worth today?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09160" y="960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things that affect option price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41732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27048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527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49240" y="15087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49240" y="18013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market price of the asset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233172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2441448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441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49240" y="24231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Left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49240" y="27157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remaining until option expires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324612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3355848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355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49240" y="33375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36301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wildly the stock price swings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92608"/>
            <a:ext cx="64008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Classical Solution: Black–Scholes PDE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1973, economists derived a mathematical equation describing how option prices evolve over time — the Black–Scholes PDE.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8321040" cy="86868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36192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∂V/∂t  +  ½ σ² S² ∂²V/∂S²  +  rS ∂V/∂S  −  rV  =  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578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term represents: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9535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∂V/∂t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price changes with time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60320" y="2926080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29535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σ² S² ∂²V/∂S²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60320" y="3291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price volatility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2926080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9535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∂V/∂S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63440" y="3291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stock price movement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66560" y="2926080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29535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0" y="3291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Risk-free rate of return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39319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limitation: the classical formula treats σ as a fixed number, but in real markets volatility keeps changing.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92608"/>
            <a:ext cx="64008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 Physics-Informed Neural Networks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4297680" cy="3474720"/>
          </a:xfrm>
          <a:prstGeom prst="rect">
            <a:avLst/>
          </a:prstGeom>
          <a:solidFill>
            <a:srgbClr val="EFF6FB"/>
          </a:solidFill>
          <a:ln w="12700">
            <a:solidFill>
              <a:srgbClr val="CCE0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Regular Neural Network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0352" y="1719072"/>
            <a:ext cx="164592" cy="164592"/>
          </a:xfrm>
          <a:prstGeom prst="ellipse">
            <a:avLst/>
          </a:prstGeom>
          <a:solidFill>
            <a:srgbClr val="AACFE0"/>
          </a:solidFill>
          <a:ln w="12700">
            <a:solidFill>
              <a:srgbClr val="AACF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6642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only from data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0352" y="2340864"/>
            <a:ext cx="164592" cy="164592"/>
          </a:xfrm>
          <a:prstGeom prst="ellipse">
            <a:avLst/>
          </a:prstGeom>
          <a:solidFill>
            <a:srgbClr val="AACFE0"/>
          </a:solidFill>
          <a:ln w="12700">
            <a:solidFill>
              <a:srgbClr val="AACF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286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large labelled datasets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30352" y="2962656"/>
            <a:ext cx="164592" cy="164592"/>
          </a:xfrm>
          <a:prstGeom prst="ellipse">
            <a:avLst/>
          </a:prstGeom>
          <a:solidFill>
            <a:srgbClr val="AACFE0"/>
          </a:solidFill>
          <a:ln w="12700">
            <a:solidFill>
              <a:srgbClr val="AACF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9077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violate known physics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30352" y="3584448"/>
            <a:ext cx="164592" cy="164592"/>
          </a:xfrm>
          <a:prstGeom prst="ellipse">
            <a:avLst/>
          </a:prstGeom>
          <a:solidFill>
            <a:srgbClr val="AACFE0"/>
          </a:solidFill>
          <a:ln w="12700">
            <a:solidFill>
              <a:srgbClr val="AACF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35295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— no constraint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0" y="987552"/>
            <a:ext cx="4297680" cy="3474720"/>
          </a:xfrm>
          <a:prstGeom prst="rect">
            <a:avLst/>
          </a:prstGeom>
          <a:solidFill>
            <a:srgbClr val="E8F8FC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1097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PINN (Our Approach)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193792" y="1719072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9824" y="16642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data AND equations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193792" y="2340864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9824" y="2286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the Black–Scholes PDE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193792" y="2962656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49824" y="29077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Respects boundary conditions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193792" y="3584448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9824" y="35295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labelled price data needed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upgrade: volatility σ is an input, not a hardcoded constant → one model prices across all market conditions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92608"/>
            <a:ext cx="64008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2496312"/>
            <a:ext cx="402336" cy="40233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953512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59536" y="2697480"/>
            <a:ext cx="420624" cy="0"/>
          </a:xfrm>
          <a:prstGeom prst="line">
            <a:avLst/>
          </a:prstGeom>
          <a:noFill/>
          <a:ln w="15240">
            <a:solidFill>
              <a:srgbClr val="AACF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2496312"/>
            <a:ext cx="402336" cy="402336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2953512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(50)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682496" y="2697480"/>
            <a:ext cx="420624" cy="0"/>
          </a:xfrm>
          <a:prstGeom prst="line">
            <a:avLst/>
          </a:prstGeom>
          <a:noFill/>
          <a:ln w="15240">
            <a:solidFill>
              <a:srgbClr val="AACF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2496312"/>
            <a:ext cx="402336" cy="402336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2953512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(50)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505456" y="2697480"/>
            <a:ext cx="420624" cy="0"/>
          </a:xfrm>
          <a:prstGeom prst="line">
            <a:avLst/>
          </a:prstGeom>
          <a:noFill/>
          <a:ln w="15240">
            <a:solidFill>
              <a:srgbClr val="AACF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2496312"/>
            <a:ext cx="402336" cy="402336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16352" y="2953512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(50)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328416" y="2697480"/>
            <a:ext cx="420624" cy="0"/>
          </a:xfrm>
          <a:prstGeom prst="line">
            <a:avLst/>
          </a:prstGeom>
          <a:noFill/>
          <a:ln w="15240">
            <a:solidFill>
              <a:srgbClr val="AACF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2496312"/>
            <a:ext cx="402336" cy="402336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39312" y="2953512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(50)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151376" y="2697480"/>
            <a:ext cx="420624" cy="0"/>
          </a:xfrm>
          <a:prstGeom prst="line">
            <a:avLst/>
          </a:prstGeom>
          <a:noFill/>
          <a:ln w="15240">
            <a:solidFill>
              <a:srgbClr val="AACF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496312"/>
            <a:ext cx="402336" cy="402336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62272" y="2953512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(50)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974336" y="2697480"/>
            <a:ext cx="420624" cy="0"/>
          </a:xfrm>
          <a:prstGeom prst="line">
            <a:avLst/>
          </a:prstGeom>
          <a:noFill/>
          <a:ln w="15240">
            <a:solidFill>
              <a:srgbClr val="AACF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0" y="2496312"/>
            <a:ext cx="402336" cy="402336"/>
          </a:xfrm>
          <a:prstGeom prst="ellipse">
            <a:avLst/>
          </a:prstGeom>
          <a:solidFill>
            <a:srgbClr val="1A6E44"/>
          </a:solidFill>
          <a:ln w="12700">
            <a:solidFill>
              <a:srgbClr val="1A6E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85232" y="2953512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57200" y="35661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Activation: Tanh   ·   Xavier weight initialization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960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92240" y="1353312"/>
            <a:ext cx="2423160" cy="438912"/>
          </a:xfrm>
          <a:prstGeom prst="rect">
            <a:avLst/>
          </a:prstGeom>
          <a:solidFill>
            <a:srgbClr val="E8F4FA"/>
          </a:solidFill>
          <a:ln w="6350">
            <a:solidFill>
              <a:srgbClr val="CCE0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4081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Dimension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726680" y="1408176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(S, t, σ)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92240" y="1856232"/>
            <a:ext cx="2423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191109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726680" y="1911096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92240" y="2359152"/>
            <a:ext cx="2423160" cy="438912"/>
          </a:xfrm>
          <a:prstGeom prst="rect">
            <a:avLst/>
          </a:prstGeom>
          <a:solidFill>
            <a:srgbClr val="E8F4FA"/>
          </a:solidFill>
          <a:ln w="6350">
            <a:solidFill>
              <a:srgbClr val="CCE0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24140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 / Layer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726680" y="2414016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92240" y="2862072"/>
            <a:ext cx="2423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E0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37960" y="291693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726680" y="2916936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492240" y="3364992"/>
            <a:ext cx="2423160" cy="438912"/>
          </a:xfrm>
          <a:prstGeom prst="rect">
            <a:avLst/>
          </a:prstGeom>
          <a:solidFill>
            <a:srgbClr val="E8F4FA"/>
          </a:solidFill>
          <a:ln w="6350">
            <a:solidFill>
              <a:srgbClr val="CCE0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37960" y="341985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726680" y="3419856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Price V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7200" y="391363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Conditions Enforced: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4187952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V(S, T) = max(S−K, 0)   [Payoff at expiry]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V(0, t) = 0   [Stock worthless → option worthless]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V(S, t) ≈ S − Ke^{−r(T−t)}   [Large S limit]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92608"/>
            <a:ext cx="64008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Strategy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58368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Loss  =  PDE Loss  +  Boundary Loss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755648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8288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PDE Loss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21284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if the model's output actually satisfies the Black–Scholes equation at randomly sampled interior points ("collocation points"). Uses automatic differentiation to compute ∂V/∂t, ∂V/∂S, ∂²V/∂S².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1755648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8288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Boundary Loss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221284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if the model gets the "known" edge cases right — like the payoff at expiry, or that a worthless stock means a worthless option. These are the ground truths we force the model to respect.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3558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Optimization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74904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749040"/>
            <a:ext cx="64008" cy="9144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8221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Adam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30352" y="41422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first-pass training. Converges quickly but coarsely. Ran for 2500 epochs.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3749040"/>
            <a:ext cx="3977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6E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3749040"/>
            <a:ext cx="64008" cy="914400"/>
          </a:xfrm>
          <a:prstGeom prst="rect">
            <a:avLst/>
          </a:prstGeom>
          <a:solidFill>
            <a:srgbClr val="1A6E44"/>
          </a:solidFill>
          <a:ln w="12700">
            <a:solidFill>
              <a:srgbClr val="1A6E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38221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6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L-BFGS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782312" y="41422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and precise fine-tuning. Uses curvature info for high accuracy.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92608"/>
            <a:ext cx="64008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Training Loss &amp; Accuracy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 Progression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53312"/>
          <a:ext cx="4754880" cy="27432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188720"/>
                <a:gridCol w="1188720"/>
              </a:tblGrid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Loss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PDE Loss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9.3999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0.003487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0.002064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0.000474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0.001483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0.000384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6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L-BFGS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0.001039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0.000387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6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L-BFGS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0.000654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0.000293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6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L-BFGS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0.000486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394960" y="960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394960" y="1463040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96128" y="1389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dropped ~99.9%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596128" y="1664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9.4 → 0.00049 across training stages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394960" y="2148840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96128" y="20756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PDE constraint satisfied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596128" y="2350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effectively approaches zero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394960" y="2834640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96128" y="27614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surface matches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596128" y="3035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Visually identical to the analytical BS solution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394960" y="3520440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96128" y="34472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also matches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596128" y="3721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sensitivity (∂V/∂S) correctly learned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394960" y="4206240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596128" y="4133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error throughout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596128" y="4407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higher near domain boundaries only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92608"/>
            <a:ext cx="64008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Generalization Across Volatility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σ is an input to the model (not a fixed number), the same trained network prices options under any volatility — without retraining.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64208"/>
            <a:ext cx="1920240" cy="2194560"/>
          </a:xfrm>
          <a:prstGeom prst="rect">
            <a:avLst/>
          </a:prstGeom>
          <a:solidFill>
            <a:srgbClr val="F8FCFE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64208"/>
            <a:ext cx="192024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642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0.1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Volatility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6334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market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Accurate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14600" y="1664208"/>
            <a:ext cx="1920240" cy="2194560"/>
          </a:xfrm>
          <a:prstGeom prst="rect">
            <a:avLst/>
          </a:prstGeom>
          <a:solidFill>
            <a:srgbClr val="F8FCFE"/>
          </a:solidFill>
          <a:ln w="19050">
            <a:solidFill>
              <a:srgbClr val="0077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1664208"/>
            <a:ext cx="1920240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6642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0.3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06040" y="22402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06040" y="26334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market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06040" y="3291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Accurate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1664208"/>
            <a:ext cx="1920240" cy="2194560"/>
          </a:xfrm>
          <a:prstGeom prst="rect">
            <a:avLst/>
          </a:prstGeom>
          <a:solidFill>
            <a:srgbClr val="F8FCFE"/>
          </a:solidFill>
          <a:ln w="19050">
            <a:solidFill>
              <a:srgbClr val="E07B5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664208"/>
            <a:ext cx="1920240" cy="457200"/>
          </a:xfrm>
          <a:prstGeom prst="rect">
            <a:avLst/>
          </a:prstGeom>
          <a:solidFill>
            <a:srgbClr val="E07B54"/>
          </a:solidFill>
          <a:ln w="12700">
            <a:solidFill>
              <a:srgbClr val="E07B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6642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0.5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54880" y="22402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26334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Volatile market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3291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7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Accurate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12280" y="1664208"/>
            <a:ext cx="1920240" cy="2194560"/>
          </a:xfrm>
          <a:prstGeom prst="rect">
            <a:avLst/>
          </a:prstGeom>
          <a:solidFill>
            <a:srgbClr val="F8FCFE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12280" y="1664208"/>
            <a:ext cx="192024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12280" y="16642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0.8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03720" y="22402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03720" y="26334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swings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03720" y="3291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Accurate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023360"/>
            <a:ext cx="8412480" cy="777240"/>
          </a:xfrm>
          <a:prstGeom prst="rect">
            <a:avLst/>
          </a:prstGeom>
          <a:solidFill>
            <a:srgbClr val="00B4D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0690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trained model = a universal pricing engine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key advantage over the classical closed-form solution.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784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0744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3502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solves the Black–Scholes PDE accurately without needing labelled price data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929384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8366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σ as an input makes it a flexible, multi-scenario pricing tool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478024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43230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Adam + L-BFGS training ensures both speed and precision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026664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98094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correctly learns Delta (∂V/∂S) — a key financial risk metric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9160" y="914400"/>
            <a:ext cx="4114800" cy="1463040"/>
          </a:xfrm>
          <a:prstGeom prst="rect">
            <a:avLst/>
          </a:prstGeom>
          <a:solidFill>
            <a:srgbClr val="FFF8F5"/>
          </a:solidFill>
          <a:ln w="12700">
            <a:solidFill>
              <a:srgbClr val="E07B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9875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07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Higher compute cost vs closed-form formula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6642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Sensitive to training point sampling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9568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Errors slightly higher near domain edges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542032"/>
            <a:ext cx="4114800" cy="1645920"/>
          </a:xfrm>
          <a:prstGeom prst="rect">
            <a:avLst/>
          </a:prstGeom>
          <a:solidFill>
            <a:srgbClr val="F5FFF8"/>
          </a:solidFill>
          <a:ln w="12700">
            <a:solidFill>
              <a:srgbClr val="1A6E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6151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Scope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29992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Extend to American options (early exercise)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2735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Incorporate stochastic volatility models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5478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 against real market price data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822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Scale to more complex derivatives (e.g., Asian options)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663440"/>
            <a:ext cx="845820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663440"/>
            <a:ext cx="8458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PINNs are a flexible and powerful framework for solving financial PDEs — and this is just the beginning.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Physics-Informed Neural Networks for Black-Scholes Option Pricing</dc:title>
  <dc:subject>PptxGenJS Presentation</dc:subject>
  <dc:creator>PptxGenJS</dc:creator>
  <cp:lastModifiedBy>PptxGenJS</cp:lastModifiedBy>
  <cp:revision>1</cp:revision>
  <dcterms:created xsi:type="dcterms:W3CDTF">2026-05-07T20:37:18Z</dcterms:created>
  <dcterms:modified xsi:type="dcterms:W3CDTF">2026-05-07T20:37:18Z</dcterms:modified>
</cp:coreProperties>
</file>